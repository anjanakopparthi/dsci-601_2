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74" r:id="rId5"/>
    <p:sldId id="260" r:id="rId6"/>
    <p:sldId id="272" r:id="rId7"/>
    <p:sldId id="261" r:id="rId8"/>
    <p:sldId id="273" r:id="rId9"/>
    <p:sldId id="262" r:id="rId10"/>
    <p:sldId id="263" r:id="rId11"/>
    <p:sldId id="264" r:id="rId12"/>
    <p:sldId id="265" r:id="rId13"/>
    <p:sldId id="268" r:id="rId14"/>
    <p:sldId id="269" r:id="rId15"/>
    <p:sldId id="270" r:id="rId16"/>
    <p:sldId id="277" r:id="rId17"/>
    <p:sldId id="27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0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6576-36D8-C789-53D2-B0AA27FEC0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CE2C2D-C7A4-FDB7-A49D-3932AE4E7A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BC274-A921-2FD5-DAFB-2C5E3A7C5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C1FB-A9DB-4A4C-BE78-9D4EEDE8207E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0914D-3A5B-3083-DBA3-254482774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3A137-BD60-8326-8183-8BAFD69D1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91BD-13F4-42FF-8D93-2208E6F2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83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AEEC8-A74D-2D27-8076-BD80A3142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2133E-2A54-A0A7-BA6F-40258D20D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75481-1ED5-7B1B-2184-E1780F677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C1FB-A9DB-4A4C-BE78-9D4EEDE8207E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05A93-E745-9A3C-716C-AD75E5ACE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93026-10DA-4BCF-D58B-D60E2725E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91BD-13F4-42FF-8D93-2208E6F2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392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8525-1772-F4EE-6ED2-D1F62FA8C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4AD93B-AEF0-2CCA-8793-C82C9113F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70D07-8932-3785-AB49-93A322218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C1FB-A9DB-4A4C-BE78-9D4EEDE8207E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7CA0A-449C-C369-24D2-54BBE5C3C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AB89B-437D-F1B1-E400-DD7D15C36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91BD-13F4-42FF-8D93-2208E6F2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83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B7383-BDAE-8B07-0C41-5DE8887C6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345D7-E57B-399E-1C17-581607B1ED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38CCDF-CAC4-195A-0D04-4AB0BEA99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F179BE-7CDA-16B5-0C3D-974187A97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C1FB-A9DB-4A4C-BE78-9D4EEDE8207E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234304-0905-085B-0A46-3FD8E19AB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AAF8C1-27A2-E471-696E-0AA29D434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91BD-13F4-42FF-8D93-2208E6F2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396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CF252-1751-411B-E8DB-51035DC7B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0DD9CE-6847-1943-8F28-EB5A86766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89DA8C-BBA0-D259-F509-1C14326233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A3DA94-351D-F9DA-26E0-B19BC3295F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A8E488-EE7E-97C4-7460-BBE735DAE6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EDF245-39C9-C0EE-C01B-65CE05194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C1FB-A9DB-4A4C-BE78-9D4EEDE8207E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35DA3A-26C9-95F7-C71B-620F0C728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EC99A8-29DC-2065-3462-8075B490A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91BD-13F4-42FF-8D93-2208E6F2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064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1E781-3FC6-9CDE-A378-E5BB295AF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31A2E5-2C87-7E1F-6ECB-AB5639BFF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C1FB-A9DB-4A4C-BE78-9D4EEDE8207E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3FC1B2-5EC8-3E44-D8AD-692D7EFDF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1A8F8A-8853-7748-D537-F1C7489A0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91BD-13F4-42FF-8D93-2208E6F2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363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5BEFF7-0138-59EC-ACC1-C219B0008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C1FB-A9DB-4A4C-BE78-9D4EEDE8207E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4912C1-3616-FAC3-9FF2-96D4B3FEA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E77EC-603A-7D98-09AD-D7E9AAB73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91BD-13F4-42FF-8D93-2208E6F2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766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AC477-96CB-7A07-E3EA-F2B018933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B7ED0-2E2E-669F-C465-0AB74E3A3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BF1B01-598E-1F76-ADC9-F3221638B9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B60F67-71D1-6559-A708-784E308C1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C1FB-A9DB-4A4C-BE78-9D4EEDE8207E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178C00-630A-2D22-8253-FED0C2998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881EFA-0BFF-E663-E61A-66110BA63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91BD-13F4-42FF-8D93-2208E6F2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90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7E47F-A258-A83B-E0D2-54E000170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BD8747-90FD-74EA-97D5-C279E16C98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4A855F-DC7B-567B-7388-BAF63D8F0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28F8BD-DB94-A91B-30A4-C043093EB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C1FB-A9DB-4A4C-BE78-9D4EEDE8207E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248C42-628B-6F19-A2B6-E2D6A0AD8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35AB8A-7E97-A7D5-C124-3E84C17DC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91BD-13F4-42FF-8D93-2208E6F2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595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85ACC-D1F4-8792-3E6F-A119A9BA3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08C1F7-D271-4904-DA9B-DED2528BE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99F8C-614F-A033-5BF2-AC4622E9E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C1FB-A9DB-4A4C-BE78-9D4EEDE8207E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D52B0-3ECF-8C88-BDE4-F7C48DC18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E274C-6E8C-DA7A-9258-68F6E042C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91BD-13F4-42FF-8D93-2208E6F2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893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6EA802-3595-D94C-3191-450C2AA8F2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A0C8A0-9160-6839-42AB-FF89C6271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CC433-D9F2-ADD0-5081-F615726D8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C1FB-A9DB-4A4C-BE78-9D4EEDE8207E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E3D4C-3222-9F85-BDA6-B7F8BE3CF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2E301-8283-5C20-6B9F-28137F488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91BD-13F4-42FF-8D93-2208E6F2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425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0FFBF2-7F83-6606-6FBA-AB66317FF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44EF2-953D-5C11-7019-2AB176A68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3625C-1177-0E52-E344-878F1B7B37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9CC1FB-A9DB-4A4C-BE78-9D4EEDE8207E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D5931-F18C-31C9-7151-11DCECCDB1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59B31-252F-0B1E-D21C-C98CBD5656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C091BD-13F4-42FF-8D93-2208E6F2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50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c/jigsaw-toxic-comment-classification-challenge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9CA437-994C-14A5-523C-E73A2C9B366F}"/>
              </a:ext>
            </a:extLst>
          </p:cNvPr>
          <p:cNvSpPr txBox="1"/>
          <p:nvPr/>
        </p:nvSpPr>
        <p:spPr>
          <a:xfrm>
            <a:off x="1534905" y="1173735"/>
            <a:ext cx="91221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  <a:buNone/>
            </a:pPr>
            <a:r>
              <a:rPr lang="en-US" sz="4000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Multilingual Hope Speech Detection</a:t>
            </a:r>
            <a:endParaRPr lang="en-US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780FD5-C79B-5280-FD23-9D4D396063D9}"/>
              </a:ext>
            </a:extLst>
          </p:cNvPr>
          <p:cNvSpPr txBox="1"/>
          <p:nvPr/>
        </p:nvSpPr>
        <p:spPr>
          <a:xfrm>
            <a:off x="3948148" y="1964973"/>
            <a:ext cx="4295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0"/>
              </a:spcAft>
              <a:buNone/>
            </a:pPr>
            <a:r>
              <a:rPr lang="en-US" b="0" i="0" dirty="0">
                <a:solidFill>
                  <a:srgbClr val="666666"/>
                </a:solidFill>
                <a:effectLst/>
                <a:latin typeface="Segoe UI" panose="020B0502040204020203" pitchFamily="34" charset="0"/>
              </a:rPr>
              <a:t>Low-Resource and Code-Mixed Settings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DBBC14-4E55-8AAA-2315-DDF5646504BF}"/>
              </a:ext>
            </a:extLst>
          </p:cNvPr>
          <p:cNvSpPr txBox="1"/>
          <p:nvPr/>
        </p:nvSpPr>
        <p:spPr>
          <a:xfrm>
            <a:off x="1900637" y="3059668"/>
            <a:ext cx="8390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Detecting supportive and encouraging content in Tamil, Malayalam, and English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4F2AC7-15A0-38D2-C831-5C4B4C9E7E3A}"/>
              </a:ext>
            </a:extLst>
          </p:cNvPr>
          <p:cNvSpPr txBox="1"/>
          <p:nvPr/>
        </p:nvSpPr>
        <p:spPr>
          <a:xfrm>
            <a:off x="3603213" y="4406992"/>
            <a:ext cx="49855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888888"/>
                </a:solidFill>
                <a:effectLst/>
                <a:latin typeface="Segoe UI" panose="020B0502040204020203" pitchFamily="34" charset="0"/>
              </a:rPr>
              <a:t>Anjana Kopparthi</a:t>
            </a:r>
            <a:br>
              <a:rPr lang="en-US" dirty="0"/>
            </a:br>
            <a:r>
              <a:rPr lang="en-US" b="0" i="0" dirty="0">
                <a:solidFill>
                  <a:srgbClr val="888888"/>
                </a:solidFill>
                <a:effectLst/>
                <a:latin typeface="Segoe UI" panose="020B0502040204020203" pitchFamily="34" charset="0"/>
              </a:rPr>
              <a:t>Data Science, Rochester Institute of Technology</a:t>
            </a:r>
            <a:br>
              <a:rPr lang="en-US" dirty="0"/>
            </a:br>
            <a:r>
              <a:rPr lang="en-US" b="0" i="0" dirty="0">
                <a:solidFill>
                  <a:srgbClr val="888888"/>
                </a:solidFill>
                <a:effectLst/>
                <a:latin typeface="Segoe UI" panose="020B0502040204020203" pitchFamily="34" charset="0"/>
              </a:rPr>
              <a:t>Advisor: </a:t>
            </a:r>
            <a:r>
              <a:rPr lang="en-US" b="0" i="0" dirty="0" err="1">
                <a:solidFill>
                  <a:srgbClr val="888888"/>
                </a:solidFill>
                <a:effectLst/>
                <a:latin typeface="Segoe UI" panose="020B0502040204020203" pitchFamily="34" charset="0"/>
              </a:rPr>
              <a:t>Aashique</a:t>
            </a:r>
            <a:r>
              <a:rPr lang="en-US" b="0" i="0" dirty="0">
                <a:solidFill>
                  <a:srgbClr val="888888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b="0" i="0" dirty="0" err="1">
                <a:solidFill>
                  <a:srgbClr val="888888"/>
                </a:solidFill>
                <a:effectLst/>
                <a:latin typeface="Segoe UI" panose="020B0502040204020203" pitchFamily="34" charset="0"/>
              </a:rPr>
              <a:t>Khudabuksh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219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8A24A-AA96-77D2-BFF2-39A4A8C62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395BB9-B29B-B704-6B9A-02F12C4D0976}"/>
              </a:ext>
            </a:extLst>
          </p:cNvPr>
          <p:cNvSpPr txBox="1"/>
          <p:nvPr/>
        </p:nvSpPr>
        <p:spPr>
          <a:xfrm>
            <a:off x="438033" y="202817"/>
            <a:ext cx="2947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What is Hope Speech? 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D62279-03A3-DA98-A2DE-63DDB3736FD3}"/>
              </a:ext>
            </a:extLst>
          </p:cNvPr>
          <p:cNvSpPr txBox="1"/>
          <p:nvPr/>
        </p:nvSpPr>
        <p:spPr>
          <a:xfrm>
            <a:off x="2189732" y="873931"/>
            <a:ext cx="7812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Hope speech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= Messages that comfort, encourage, and promote optimism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52D636-CA5F-00B3-0BE6-797F83569FE5}"/>
              </a:ext>
            </a:extLst>
          </p:cNvPr>
          <p:cNvSpPr txBox="1"/>
          <p:nvPr/>
        </p:nvSpPr>
        <p:spPr>
          <a:xfrm>
            <a:off x="1610671" y="1891930"/>
            <a:ext cx="3047418" cy="37497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28A745"/>
                </a:solidFill>
                <a:effectLst/>
                <a:latin typeface="Segoe UI" panose="020B0502040204020203" pitchFamily="34" charset="0"/>
              </a:rPr>
              <a:t>✓ Hope Speech Examples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"I know this is hard, but you are not alone“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"Things will get better“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"I'm here if you need someone“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"Stay strong, you can do this"</a:t>
            </a:r>
          </a:p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endParaRPr lang="en-US" b="1" i="0" dirty="0">
              <a:solidFill>
                <a:srgbClr val="28A745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E89612-3677-0BB3-4FB8-51C32DC290AB}"/>
              </a:ext>
            </a:extLst>
          </p:cNvPr>
          <p:cNvSpPr txBox="1"/>
          <p:nvPr/>
        </p:nvSpPr>
        <p:spPr>
          <a:xfrm>
            <a:off x="6573559" y="1891930"/>
            <a:ext cx="2703064" cy="40267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DC3545"/>
                </a:solidFill>
                <a:effectLst/>
                <a:latin typeface="Segoe UI" panose="020B0502040204020203" pitchFamily="34" charset="0"/>
              </a:rPr>
              <a:t>✗ Non-Hope Examples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"There is no hope left“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"Just smile and stop complaining" (toxic positivity)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"Nobody cares about your problems“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“Others have it worse; cheer up!"</a:t>
            </a:r>
          </a:p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endParaRPr lang="en-US" b="1" i="0" dirty="0">
              <a:solidFill>
                <a:srgbClr val="DC3545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E4897A-714A-F316-7755-2C8DEC49A8BE}"/>
              </a:ext>
            </a:extLst>
          </p:cNvPr>
          <p:cNvSpPr txBox="1"/>
          <p:nvPr/>
        </p:nvSpPr>
        <p:spPr>
          <a:xfrm>
            <a:off x="2524779" y="6198008"/>
            <a:ext cx="714244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Key Insight: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Hope speech is NOT just the opposite of hate speech!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251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EA0B8-EBB2-128B-5412-74810EA49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681D21-F86B-54E8-DB9C-6541D5FFAA7D}"/>
              </a:ext>
            </a:extLst>
          </p:cNvPr>
          <p:cNvSpPr txBox="1"/>
          <p:nvPr/>
        </p:nvSpPr>
        <p:spPr>
          <a:xfrm>
            <a:off x="305382" y="251594"/>
            <a:ext cx="609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Why is Hope Speech Detection Challenging? 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7E87FE-F43C-6890-647E-AEB18BFFBD64}"/>
              </a:ext>
            </a:extLst>
          </p:cNvPr>
          <p:cNvSpPr txBox="1"/>
          <p:nvPr/>
        </p:nvSpPr>
        <p:spPr>
          <a:xfrm>
            <a:off x="3048582" y="1294263"/>
            <a:ext cx="6097162" cy="427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Subtle expressions: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"I'm here if you need someone" has no explicit "hope" word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Negation patterns: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"I have hope" vs "I have no hope left"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Code-mixing: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"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entha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feel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ayya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but still I know things will improve"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Script variation: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Tamil/Malayalam in native script vs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romanized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Low-resource languages: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Limited labeled datasets for Tamil &amp; Malayalam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Toxic positivity: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Sounds positive but invalidates feelings</a:t>
            </a:r>
          </a:p>
        </p:txBody>
      </p:sp>
    </p:spTree>
    <p:extLst>
      <p:ext uri="{BB962C8B-B14F-4D97-AF65-F5344CB8AC3E}">
        <p14:creationId xmlns:p14="http://schemas.microsoft.com/office/powerpoint/2010/main" val="144108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452400-296B-D9FA-A45F-B4A3CC904542}"/>
              </a:ext>
            </a:extLst>
          </p:cNvPr>
          <p:cNvSpPr txBox="1"/>
          <p:nvPr/>
        </p:nvSpPr>
        <p:spPr>
          <a:xfrm>
            <a:off x="3047419" y="2090172"/>
            <a:ext cx="609716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Detect hope speech in </a:t>
            </a: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English, Tamil, and Malayalam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Handle </a:t>
            </a: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code-mixing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and </a:t>
            </a: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script variation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(native/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romanized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)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Address </a:t>
            </a: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low-resource language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challenges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Distinguish hope from </a:t>
            </a: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toxic positivity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Build interpretable baseline → scale to transformers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92A763-077D-8EE2-6FEA-0A2CEA3695FF}"/>
              </a:ext>
            </a:extLst>
          </p:cNvPr>
          <p:cNvSpPr txBox="1"/>
          <p:nvPr/>
        </p:nvSpPr>
        <p:spPr>
          <a:xfrm>
            <a:off x="898695" y="384216"/>
            <a:ext cx="3191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75"/>
              </a:spcBef>
              <a:spcAft>
                <a:spcPts val="750"/>
              </a:spcAft>
              <a:buNone/>
            </a:pPr>
            <a:r>
              <a:rPr lang="en-US" sz="3600" b="1" dirty="0">
                <a:solidFill>
                  <a:srgbClr val="764BA2"/>
                </a:solidFill>
                <a:latin typeface="Segoe UI" panose="020B0502040204020203" pitchFamily="34" charset="0"/>
              </a:rPr>
              <a:t>Project Goals</a:t>
            </a:r>
          </a:p>
        </p:txBody>
      </p:sp>
    </p:spTree>
    <p:extLst>
      <p:ext uri="{BB962C8B-B14F-4D97-AF65-F5344CB8AC3E}">
        <p14:creationId xmlns:p14="http://schemas.microsoft.com/office/powerpoint/2010/main" val="4167247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20FF9-0D5A-653A-6A97-8853CB37F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F7143F-9E73-5486-592A-EA1555BC705B}"/>
              </a:ext>
            </a:extLst>
          </p:cNvPr>
          <p:cNvSpPr txBox="1"/>
          <p:nvPr/>
        </p:nvSpPr>
        <p:spPr>
          <a:xfrm>
            <a:off x="542708" y="244613"/>
            <a:ext cx="22074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Datasets Used 📊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857A99-CEB4-E3EA-CE75-FA364EC6E054}"/>
              </a:ext>
            </a:extLst>
          </p:cNvPr>
          <p:cNvSpPr txBox="1"/>
          <p:nvPr/>
        </p:nvSpPr>
        <p:spPr>
          <a:xfrm>
            <a:off x="542708" y="878020"/>
            <a:ext cx="5711510" cy="31649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1. HopeEDI Dataset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English samples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Tamil samples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Malayalam samples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Labels: hope, non-hope, not-in-language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Issue: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Highly imbalanced (more hope than non-hope)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0F62FE-F14F-D9E1-4314-12494BDB2A26}"/>
              </a:ext>
            </a:extLst>
          </p:cNvPr>
          <p:cNvSpPr txBox="1"/>
          <p:nvPr/>
        </p:nvSpPr>
        <p:spPr>
          <a:xfrm>
            <a:off x="6510737" y="878020"/>
            <a:ext cx="4043254" cy="26058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2. Jigsaw Toxic Positivity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English only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Emotionally supportive comments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Discouraging comments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Toxic positivity examples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10417D-1222-00DD-8F1B-6945899A6F77}"/>
              </a:ext>
            </a:extLst>
          </p:cNvPr>
          <p:cNvSpPr txBox="1"/>
          <p:nvPr/>
        </p:nvSpPr>
        <p:spPr>
          <a:xfrm>
            <a:off x="3110241" y="4140788"/>
            <a:ext cx="6097162" cy="17209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3. YouTube Comments (Exploratory)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Manually collected from Telugu, Tamil, Malayalam videos: motivational talks, devotional content, mental health awareness channels</a:t>
            </a:r>
          </a:p>
          <a:p>
            <a:pPr>
              <a:spcBef>
                <a:spcPts val="750"/>
              </a:spcBef>
            </a:pPr>
            <a:r>
              <a:rPr lang="en-US" b="1" i="0" dirty="0">
                <a:solidFill>
                  <a:srgbClr val="DC3545"/>
                </a:solidFill>
                <a:effectLst/>
                <a:latin typeface="Segoe UI" panose="020B0502040204020203" pitchFamily="34" charset="0"/>
              </a:rPr>
              <a:t>Next Semester: </a:t>
            </a: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Large-scale automated scraping planned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96DB67-791D-55F1-58F3-91BC2994DA62}"/>
              </a:ext>
            </a:extLst>
          </p:cNvPr>
          <p:cNvSpPr txBox="1"/>
          <p:nvPr/>
        </p:nvSpPr>
        <p:spPr>
          <a:xfrm>
            <a:off x="2358420" y="6149366"/>
            <a:ext cx="77915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Challenge: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Class imbalance - HopeEDI heavily skewed toward hope speech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268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software model&#10;&#10;AI-generated content may be incorrect.">
            <a:extLst>
              <a:ext uri="{FF2B5EF4-FFF2-40B4-BE49-F238E27FC236}">
                <a16:creationId xmlns:a16="http://schemas.microsoft.com/office/drawing/2014/main" id="{11AC7A79-C0A2-DC50-4A2C-48BE54D18E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365" y="906576"/>
            <a:ext cx="7567270" cy="50448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DBA203-2F34-C27F-1370-AD7E1E099E51}"/>
              </a:ext>
            </a:extLst>
          </p:cNvPr>
          <p:cNvSpPr txBox="1"/>
          <p:nvPr/>
        </p:nvSpPr>
        <p:spPr>
          <a:xfrm>
            <a:off x="458945" y="197241"/>
            <a:ext cx="3308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Domain model Overview 🏗️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B4626E82-B424-1300-7B4F-C33750DD88BC}"/>
              </a:ext>
            </a:extLst>
          </p:cNvPr>
          <p:cNvSpPr/>
          <p:nvPr/>
        </p:nvSpPr>
        <p:spPr>
          <a:xfrm>
            <a:off x="6851717" y="3736447"/>
            <a:ext cx="644967" cy="585216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8E2B7C-2D04-3185-4380-563E1F335909}"/>
              </a:ext>
            </a:extLst>
          </p:cNvPr>
          <p:cNvSpPr txBox="1"/>
          <p:nvPr/>
        </p:nvSpPr>
        <p:spPr>
          <a:xfrm>
            <a:off x="6827285" y="3905944"/>
            <a:ext cx="7357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evaluates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9EE96A-B6DC-ABF1-C974-8806E8A1D4C1}"/>
              </a:ext>
            </a:extLst>
          </p:cNvPr>
          <p:cNvSpPr txBox="1"/>
          <p:nvPr/>
        </p:nvSpPr>
        <p:spPr>
          <a:xfrm>
            <a:off x="770143" y="5713007"/>
            <a:ext cx="1065171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The domain model defines how Text Samples flow through Preprocessing and Feature Extraction into the Classification Model, which produces Labels evaluated using standard Performance Metrics.</a:t>
            </a:r>
          </a:p>
        </p:txBody>
      </p:sp>
    </p:spTree>
    <p:extLst>
      <p:ext uri="{BB962C8B-B14F-4D97-AF65-F5344CB8AC3E}">
        <p14:creationId xmlns:p14="http://schemas.microsoft.com/office/powerpoint/2010/main" val="330551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15CE8-AAE4-E678-985A-D40F985BA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6E323FC-FDFF-12E3-E17E-CA8820FDD535}"/>
              </a:ext>
            </a:extLst>
          </p:cNvPr>
          <p:cNvSpPr/>
          <p:nvPr/>
        </p:nvSpPr>
        <p:spPr>
          <a:xfrm>
            <a:off x="3967052" y="1119453"/>
            <a:ext cx="4257893" cy="5584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Layer: HopeEDI + Jigsaw + YouTube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151BB4E-659F-444D-E409-CD5089C82559}"/>
              </a:ext>
            </a:extLst>
          </p:cNvPr>
          <p:cNvSpPr/>
          <p:nvPr/>
        </p:nvSpPr>
        <p:spPr>
          <a:xfrm>
            <a:off x="3967053" y="1902676"/>
            <a:ext cx="4257893" cy="5584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Preprocessing: Normalization, Negation Detection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7B10849-AA25-55E1-6CC3-1C5321390D93}"/>
              </a:ext>
            </a:extLst>
          </p:cNvPr>
          <p:cNvSpPr/>
          <p:nvPr/>
        </p:nvSpPr>
        <p:spPr>
          <a:xfrm>
            <a:off x="6213497" y="2763566"/>
            <a:ext cx="4257893" cy="5584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Transformer Tokens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54C5DEF-76CE-2FAB-59C8-7403B72546AB}"/>
              </a:ext>
            </a:extLst>
          </p:cNvPr>
          <p:cNvSpPr/>
          <p:nvPr/>
        </p:nvSpPr>
        <p:spPr>
          <a:xfrm>
            <a:off x="1720611" y="2783627"/>
            <a:ext cx="4257893" cy="5584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TF-IDF Features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719371F-1ED9-313F-8142-2F7E0FE6236C}"/>
              </a:ext>
            </a:extLst>
          </p:cNvPr>
          <p:cNvSpPr/>
          <p:nvPr/>
        </p:nvSpPr>
        <p:spPr>
          <a:xfrm>
            <a:off x="6213496" y="3825997"/>
            <a:ext cx="4257893" cy="5584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XLM-Roberta (planned)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90DD803-A2E8-F91E-ACE9-B1DD2D7B7712}"/>
              </a:ext>
            </a:extLst>
          </p:cNvPr>
          <p:cNvSpPr/>
          <p:nvPr/>
        </p:nvSpPr>
        <p:spPr>
          <a:xfrm>
            <a:off x="1720612" y="3825997"/>
            <a:ext cx="4257893" cy="5584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Logistic Regression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DFA858E-C2E4-9602-F3F9-788F0D0A66B3}"/>
              </a:ext>
            </a:extLst>
          </p:cNvPr>
          <p:cNvSpPr/>
          <p:nvPr/>
        </p:nvSpPr>
        <p:spPr>
          <a:xfrm>
            <a:off x="3975193" y="4781404"/>
            <a:ext cx="4257893" cy="5584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Evaluation &amp; Error 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8460C6-5024-BFE8-53CF-BA61B25AB1B1}"/>
              </a:ext>
            </a:extLst>
          </p:cNvPr>
          <p:cNvSpPr txBox="1"/>
          <p:nvPr/>
        </p:nvSpPr>
        <p:spPr>
          <a:xfrm>
            <a:off x="1177316" y="5991298"/>
            <a:ext cx="100723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Progressive Complexity Design: Start with interpretable baselines → Scale to advanced transformers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64F839-A306-733C-8CEF-47D3B1F155DF}"/>
              </a:ext>
            </a:extLst>
          </p:cNvPr>
          <p:cNvSpPr txBox="1"/>
          <p:nvPr/>
        </p:nvSpPr>
        <p:spPr>
          <a:xfrm>
            <a:off x="458945" y="197241"/>
            <a:ext cx="3826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System Architecture Overview 🏗️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57361B5-E46C-D69A-7AE9-7E0CA4152268}"/>
              </a:ext>
            </a:extLst>
          </p:cNvPr>
          <p:cNvCxnSpPr>
            <a:stCxn id="2" idx="2"/>
            <a:endCxn id="3" idx="0"/>
          </p:cNvCxnSpPr>
          <p:nvPr/>
        </p:nvCxnSpPr>
        <p:spPr>
          <a:xfrm>
            <a:off x="6095999" y="1677866"/>
            <a:ext cx="1" cy="224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3754A6F-7EC5-638B-8E97-EEFA87A9728E}"/>
              </a:ext>
            </a:extLst>
          </p:cNvPr>
          <p:cNvCxnSpPr/>
          <p:nvPr/>
        </p:nvCxnSpPr>
        <p:spPr>
          <a:xfrm>
            <a:off x="6105299" y="2514030"/>
            <a:ext cx="1" cy="224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83F21A6-E4B0-C89E-7901-19923D26138A}"/>
              </a:ext>
            </a:extLst>
          </p:cNvPr>
          <p:cNvCxnSpPr/>
          <p:nvPr/>
        </p:nvCxnSpPr>
        <p:spPr>
          <a:xfrm>
            <a:off x="6114599" y="3392074"/>
            <a:ext cx="1" cy="224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3B4B59D-AFB8-9278-B028-80BD4488745E}"/>
              </a:ext>
            </a:extLst>
          </p:cNvPr>
          <p:cNvCxnSpPr/>
          <p:nvPr/>
        </p:nvCxnSpPr>
        <p:spPr>
          <a:xfrm>
            <a:off x="6114598" y="4464109"/>
            <a:ext cx="1" cy="224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5608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EFC482-FEDC-4CD5-4570-B1E55EC9E699}"/>
              </a:ext>
            </a:extLst>
          </p:cNvPr>
          <p:cNvSpPr txBox="1"/>
          <p:nvPr/>
        </p:nvSpPr>
        <p:spPr>
          <a:xfrm>
            <a:off x="3463610" y="3044279"/>
            <a:ext cx="52647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sz="4400" b="1" dirty="0">
                <a:solidFill>
                  <a:srgbClr val="764BA2"/>
                </a:solidFill>
                <a:latin typeface="Segoe UI" panose="020B0502040204020203" pitchFamily="34" charset="0"/>
              </a:rPr>
              <a:t>Code Presentation</a:t>
            </a:r>
            <a:endParaRPr lang="en-US" sz="4400" b="1" i="0" dirty="0">
              <a:solidFill>
                <a:srgbClr val="764BA2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259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BF3979-8CAB-30BD-F4E9-2CCCD4327A49}"/>
              </a:ext>
            </a:extLst>
          </p:cNvPr>
          <p:cNvSpPr txBox="1"/>
          <p:nvPr/>
        </p:nvSpPr>
        <p:spPr>
          <a:xfrm>
            <a:off x="507806" y="328375"/>
            <a:ext cx="30474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Preprocessing Pipeline 🔧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5804E3-8DA4-1D7A-E5D6-24B6B4F26CDF}"/>
              </a:ext>
            </a:extLst>
          </p:cNvPr>
          <p:cNvSpPr txBox="1"/>
          <p:nvPr/>
        </p:nvSpPr>
        <p:spPr>
          <a:xfrm>
            <a:off x="1931466" y="1178196"/>
            <a:ext cx="8329067" cy="4837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Critical Steps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Unicode Normalization (NFC):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Handle visually identical characters in Tamil/Malayalam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Noise Removal: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Remove URLs, HTML, repeated punctuation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Emoji Preservation: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Keep emojis (they encode emotional intensity!)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Script Variant Tagging: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Classify as native/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romanized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/code-mixed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Negation Detection: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Flag sentences with negation + hope words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Label Normalization: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Map to integers (hope=1, non-hope=0, not-in-lang=2)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Special Handling: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If text contains "hope" word + negation → Override to NON-HOPE</a:t>
            </a:r>
          </a:p>
        </p:txBody>
      </p:sp>
    </p:spTree>
    <p:extLst>
      <p:ext uri="{BB962C8B-B14F-4D97-AF65-F5344CB8AC3E}">
        <p14:creationId xmlns:p14="http://schemas.microsoft.com/office/powerpoint/2010/main" val="1679748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37FD0-2944-08D2-C147-04C3BC0EF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CC7C41-41A7-5105-F599-35E323453BDF}"/>
              </a:ext>
            </a:extLst>
          </p:cNvPr>
          <p:cNvSpPr txBox="1"/>
          <p:nvPr/>
        </p:nvSpPr>
        <p:spPr>
          <a:xfrm>
            <a:off x="375183" y="300455"/>
            <a:ext cx="609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Baseline Model: TF-IDF + Logistic Regression 📈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40BFC3-CB21-9BC0-0305-7632110933AB}"/>
              </a:ext>
            </a:extLst>
          </p:cNvPr>
          <p:cNvSpPr txBox="1"/>
          <p:nvPr/>
        </p:nvSpPr>
        <p:spPr>
          <a:xfrm>
            <a:off x="877754" y="948177"/>
            <a:ext cx="6097162" cy="37753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Implementation Details</a:t>
            </a:r>
          </a:p>
          <a:p>
            <a:pPr>
              <a:spcBef>
                <a:spcPts val="1500"/>
              </a:spcBef>
              <a:spcAft>
                <a:spcPts val="1125"/>
              </a:spcAft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COMPLETED</a:t>
            </a:r>
            <a:endParaRPr lang="en-US" b="1" i="0" dirty="0">
              <a:solidFill>
                <a:schemeClr val="accent6">
                  <a:lumMod val="75000"/>
                </a:schemeClr>
              </a:solidFill>
              <a:effectLst/>
              <a:latin typeface="Segoe UI" panose="020B0502040204020203" pitchFamily="34" charset="0"/>
            </a:endParaRP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Features: TF-IDF with unigrams, bigrams, trigrams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Max vocabulary: 5000 features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Classifier: Logistic Regression with class-weight balancing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Library: scikit-learn</a:t>
            </a:r>
          </a:p>
          <a:p>
            <a:pPr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dirty="0"/>
              <a:t>Sparse matrix output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25E264-6439-F485-3D4F-19F2367EE28A}"/>
              </a:ext>
            </a:extLst>
          </p:cNvPr>
          <p:cNvSpPr txBox="1"/>
          <p:nvPr/>
        </p:nvSpPr>
        <p:spPr>
          <a:xfrm>
            <a:off x="3195165" y="5071230"/>
            <a:ext cx="6772493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667EEA"/>
                </a:solidFill>
                <a:latin typeface="Segoe UI" panose="020B0502040204020203" pitchFamily="34" charset="0"/>
              </a:rPr>
              <a:t>Purpose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✓ Establish interpretable reference model</a:t>
            </a:r>
          </a:p>
          <a:p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✓ Create performance lower bound for transformer comparison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BE0082-3CDD-97C1-7B92-8E13E3204A89}"/>
              </a:ext>
            </a:extLst>
          </p:cNvPr>
          <p:cNvSpPr txBox="1"/>
          <p:nvPr/>
        </p:nvSpPr>
        <p:spPr>
          <a:xfrm>
            <a:off x="7501920" y="1426513"/>
            <a:ext cx="3247515" cy="27674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None/>
            </a:pP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Transformer Tokenization </a:t>
            </a:r>
          </a:p>
          <a:p>
            <a:pPr algn="l">
              <a:spcAft>
                <a:spcPts val="750"/>
              </a:spcAft>
              <a:buNone/>
            </a:pPr>
            <a:r>
              <a:rPr lang="en-US" b="1" i="0" dirty="0">
                <a:solidFill>
                  <a:srgbClr val="856404"/>
                </a:solidFill>
                <a:effectLst/>
                <a:latin typeface="Segoe UI" panose="020B0502040204020203" pitchFamily="34" charset="0"/>
              </a:rPr>
              <a:t>PLANNED</a:t>
            </a:r>
            <a:endParaRPr lang="en-US" b="1" i="0" dirty="0">
              <a:solidFill>
                <a:srgbClr val="667EEA"/>
              </a:solidFill>
              <a:effectLst/>
              <a:latin typeface="Segoe UI" panose="020B0502040204020203" pitchFamily="34" charset="0"/>
            </a:endParaRP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XLM-R tokenizer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Subword tokenization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Max length: 128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Multilingual embeddings</a:t>
            </a:r>
          </a:p>
        </p:txBody>
      </p:sp>
    </p:spTree>
    <p:extLst>
      <p:ext uri="{BB962C8B-B14F-4D97-AF65-F5344CB8AC3E}">
        <p14:creationId xmlns:p14="http://schemas.microsoft.com/office/powerpoint/2010/main" val="2709506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6E275-A603-A197-D09C-6ED779986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FA35F79-ADDB-0CAB-FF78-7857512256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287732"/>
              </p:ext>
            </p:extLst>
          </p:nvPr>
        </p:nvGraphicFramePr>
        <p:xfrm>
          <a:off x="703833" y="2214455"/>
          <a:ext cx="10784334" cy="2268220"/>
        </p:xfrm>
        <a:graphic>
          <a:graphicData uri="http://schemas.openxmlformats.org/drawingml/2006/table">
            <a:tbl>
              <a:tblPr/>
              <a:tblGrid>
                <a:gridCol w="1797389">
                  <a:extLst>
                    <a:ext uri="{9D8B030D-6E8A-4147-A177-3AD203B41FA5}">
                      <a16:colId xmlns:a16="http://schemas.microsoft.com/office/drawing/2014/main" val="2424155046"/>
                    </a:ext>
                  </a:extLst>
                </a:gridCol>
                <a:gridCol w="1797389">
                  <a:extLst>
                    <a:ext uri="{9D8B030D-6E8A-4147-A177-3AD203B41FA5}">
                      <a16:colId xmlns:a16="http://schemas.microsoft.com/office/drawing/2014/main" val="1367934355"/>
                    </a:ext>
                  </a:extLst>
                </a:gridCol>
                <a:gridCol w="1797389">
                  <a:extLst>
                    <a:ext uri="{9D8B030D-6E8A-4147-A177-3AD203B41FA5}">
                      <a16:colId xmlns:a16="http://schemas.microsoft.com/office/drawing/2014/main" val="3823895837"/>
                    </a:ext>
                  </a:extLst>
                </a:gridCol>
                <a:gridCol w="1797389">
                  <a:extLst>
                    <a:ext uri="{9D8B030D-6E8A-4147-A177-3AD203B41FA5}">
                      <a16:colId xmlns:a16="http://schemas.microsoft.com/office/drawing/2014/main" val="2855671692"/>
                    </a:ext>
                  </a:extLst>
                </a:gridCol>
                <a:gridCol w="1797389">
                  <a:extLst>
                    <a:ext uri="{9D8B030D-6E8A-4147-A177-3AD203B41FA5}">
                      <a16:colId xmlns:a16="http://schemas.microsoft.com/office/drawing/2014/main" val="619905160"/>
                    </a:ext>
                  </a:extLst>
                </a:gridCol>
                <a:gridCol w="1797389">
                  <a:extLst>
                    <a:ext uri="{9D8B030D-6E8A-4147-A177-3AD203B41FA5}">
                      <a16:colId xmlns:a16="http://schemas.microsoft.com/office/drawing/2014/main" val="17887629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  <a:effectLst/>
                        </a:rPr>
                        <a:t>Language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  <a:effectLst/>
                        </a:rPr>
                        <a:t>Accuracy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  <a:effectLst/>
                        </a:rPr>
                        <a:t>Precision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  <a:effectLst/>
                        </a:rPr>
                        <a:t>Recall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solidFill>
                            <a:srgbClr val="FFFFFF"/>
                          </a:solidFill>
                          <a:effectLst/>
                        </a:rPr>
                        <a:t>F1-Score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Assessment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67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4656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English</a:t>
                      </a:r>
                      <a:endParaRPr lang="en-US">
                        <a:effectLst/>
                      </a:endParaRP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80.4%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91.8%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80.4%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84.2%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 Good baseline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8636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Tamil</a:t>
                      </a:r>
                      <a:endParaRPr lang="en-US">
                        <a:effectLst/>
                      </a:endParaRP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63.4%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63.3%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63.4%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63.3%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⚠️ Moderate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04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Malayalam</a:t>
                      </a:r>
                      <a:endParaRPr lang="en-US">
                        <a:effectLst/>
                      </a:endParaRP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30.3%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82.3%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30.3%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38.0%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❌ Poor - needs transformers</a:t>
                      </a:r>
                    </a:p>
                  </a:txBody>
                  <a:tcPr marL="76200" marR="76200" marT="63500" marB="635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18391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A1EA53A-5DF8-3161-BB98-6841C45BEAD5}"/>
              </a:ext>
            </a:extLst>
          </p:cNvPr>
          <p:cNvSpPr txBox="1"/>
          <p:nvPr/>
        </p:nvSpPr>
        <p:spPr>
          <a:xfrm>
            <a:off x="780060" y="335439"/>
            <a:ext cx="24377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Baseline Results 📊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622218-A5FE-DFE3-E92C-3C85510F1604}"/>
              </a:ext>
            </a:extLst>
          </p:cNvPr>
          <p:cNvSpPr txBox="1"/>
          <p:nvPr/>
        </p:nvSpPr>
        <p:spPr>
          <a:xfrm>
            <a:off x="3117220" y="5599494"/>
            <a:ext cx="609716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Observation: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English performs well, but Tamil and Malayalam struggle significantly with TF-IDF baseline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790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064F5-AA07-64BA-7E25-6F4C0D310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E79E5B-B044-20BB-5A02-5E6734C50CE9}"/>
              </a:ext>
            </a:extLst>
          </p:cNvPr>
          <p:cNvSpPr txBox="1"/>
          <p:nvPr/>
        </p:nvSpPr>
        <p:spPr>
          <a:xfrm>
            <a:off x="354243" y="258574"/>
            <a:ext cx="3910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Error Analysis &amp; Key Findings 🔍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3790C5-3711-724A-17D7-EFC6A67E02C7}"/>
              </a:ext>
            </a:extLst>
          </p:cNvPr>
          <p:cNvSpPr txBox="1"/>
          <p:nvPr/>
        </p:nvSpPr>
        <p:spPr>
          <a:xfrm>
            <a:off x="1970729" y="1012954"/>
            <a:ext cx="8250541" cy="3995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Common Failure Patterns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Toxic positivity misclassification: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"Just smile and stop being weak" → predicted as HOPE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Code-mixing challenges: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TF-IDF treats English + Tamil as separate bags of words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Sarcasm: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"Oh great, another failure, what a surprise" → misclassified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Cultural expressions: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Tamil/Malayalam idioms not captured by lexical features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Why Malayalam Failed: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Complex morphology + script diversity + class imbalance + sparse data = poor generalization</a:t>
            </a:r>
          </a:p>
        </p:txBody>
      </p:sp>
    </p:spTree>
    <p:extLst>
      <p:ext uri="{BB962C8B-B14F-4D97-AF65-F5344CB8AC3E}">
        <p14:creationId xmlns:p14="http://schemas.microsoft.com/office/powerpoint/2010/main" val="190746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7004D-5AE3-A2C7-9EC7-49A80916B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250135-F046-6EF3-2729-7F8101DD5911}"/>
              </a:ext>
            </a:extLst>
          </p:cNvPr>
          <p:cNvSpPr txBox="1"/>
          <p:nvPr/>
        </p:nvSpPr>
        <p:spPr>
          <a:xfrm>
            <a:off x="521766" y="328375"/>
            <a:ext cx="609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Next Phase: Multilingual Transformers 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45AFA3-C61F-29AC-3C9B-EE684A47F44E}"/>
              </a:ext>
            </a:extLst>
          </p:cNvPr>
          <p:cNvSpPr txBox="1"/>
          <p:nvPr/>
        </p:nvSpPr>
        <p:spPr>
          <a:xfrm>
            <a:off x="654389" y="1655949"/>
            <a:ext cx="4894832" cy="31649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Why XLM-R?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Pre-trained on 100 languages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Shares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subword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representations across scripts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Handles code-mixing naturally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Captures long-range dependencies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Understands context &amp; semantics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693769-BBBC-6C42-6D51-D90D808A75DF}"/>
              </a:ext>
            </a:extLst>
          </p:cNvPr>
          <p:cNvSpPr txBox="1"/>
          <p:nvPr/>
        </p:nvSpPr>
        <p:spPr>
          <a:xfrm>
            <a:off x="6096000" y="1655949"/>
            <a:ext cx="5264780" cy="37240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Implementation Plan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Model: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xlm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-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roberta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-base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Learning rate: 2e-5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Batch size: 16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Epochs: 3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Library: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HuggingFace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Transformers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Expected: Significant improvement over baseline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D48910-B7BB-D27E-1881-452D703AAB42}"/>
              </a:ext>
            </a:extLst>
          </p:cNvPr>
          <p:cNvSpPr txBox="1"/>
          <p:nvPr/>
        </p:nvSpPr>
        <p:spPr>
          <a:xfrm>
            <a:off x="521766" y="659732"/>
            <a:ext cx="609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XLM-Roberta Fine-tuning (Planned for Next Semester)</a:t>
            </a:r>
          </a:p>
        </p:txBody>
      </p:sp>
    </p:spTree>
    <p:extLst>
      <p:ext uri="{BB962C8B-B14F-4D97-AF65-F5344CB8AC3E}">
        <p14:creationId xmlns:p14="http://schemas.microsoft.com/office/powerpoint/2010/main" val="2108753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55901-F0D9-B880-CCD6-0AA470350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775BCC-746B-30DB-8E8D-C4949871CCC3}"/>
              </a:ext>
            </a:extLst>
          </p:cNvPr>
          <p:cNvSpPr txBox="1"/>
          <p:nvPr/>
        </p:nvSpPr>
        <p:spPr>
          <a:xfrm>
            <a:off x="507807" y="460998"/>
            <a:ext cx="3903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Future Work (Next Semester) 🔮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E95C94-3B98-8867-6CBA-75511066795A}"/>
              </a:ext>
            </a:extLst>
          </p:cNvPr>
          <p:cNvSpPr txBox="1"/>
          <p:nvPr/>
        </p:nvSpPr>
        <p:spPr>
          <a:xfrm>
            <a:off x="3047419" y="1305341"/>
            <a:ext cx="609716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 Large-Scale YouTube Scraping</a:t>
            </a:r>
          </a:p>
          <a:p>
            <a:r>
              <a:rPr lang="en-US" dirty="0"/>
              <a:t>Automated extraction of 10k+ comments in Telugu, Tamil, Malayalam from motivational videos, mental health channels, devotional content</a:t>
            </a:r>
          </a:p>
          <a:p>
            <a:endParaRPr lang="en-US" dirty="0"/>
          </a:p>
          <a:p>
            <a:r>
              <a:rPr lang="en-US" b="1" dirty="0"/>
              <a:t>2. Multilingual Annotation Guidelines</a:t>
            </a:r>
          </a:p>
          <a:p>
            <a:r>
              <a:rPr lang="en-US" dirty="0"/>
              <a:t>Consistent labeling framework for hope, non-hope, toxic positivity across languages</a:t>
            </a:r>
          </a:p>
          <a:p>
            <a:endParaRPr lang="en-US" dirty="0"/>
          </a:p>
          <a:p>
            <a:r>
              <a:rPr lang="en-US" b="1" dirty="0"/>
              <a:t>3. Transformer Fine-tuning</a:t>
            </a:r>
          </a:p>
          <a:p>
            <a:r>
              <a:rPr lang="en-US" dirty="0"/>
              <a:t>XLM-Roberta / </a:t>
            </a:r>
            <a:r>
              <a:rPr lang="en-US" dirty="0" err="1"/>
              <a:t>mBERT</a:t>
            </a:r>
            <a:r>
              <a:rPr lang="en-US" dirty="0"/>
              <a:t> training on combined datasets</a:t>
            </a:r>
          </a:p>
          <a:p>
            <a:endParaRPr lang="en-US" dirty="0"/>
          </a:p>
          <a:p>
            <a:r>
              <a:rPr lang="en-US" b="1" dirty="0"/>
              <a:t>4. Toxic Positivity Dataset Expansion</a:t>
            </a:r>
          </a:p>
          <a:p>
            <a:r>
              <a:rPr lang="en-US" dirty="0"/>
              <a:t>Especially for Tamil and Malayalam (currently underrepresented)</a:t>
            </a:r>
          </a:p>
        </p:txBody>
      </p:sp>
    </p:spTree>
    <p:extLst>
      <p:ext uri="{BB962C8B-B14F-4D97-AF65-F5344CB8AC3E}">
        <p14:creationId xmlns:p14="http://schemas.microsoft.com/office/powerpoint/2010/main" val="890269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C1968-9123-423B-2EDF-7872102C3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6C4F88-BB73-3DEF-D55C-727B9CE11004}"/>
              </a:ext>
            </a:extLst>
          </p:cNvPr>
          <p:cNvSpPr txBox="1"/>
          <p:nvPr/>
        </p:nvSpPr>
        <p:spPr>
          <a:xfrm>
            <a:off x="493846" y="265553"/>
            <a:ext cx="2884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Conclusion &amp; Impact 🎯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44A755-B126-5056-D9E0-AD4E28B1D75E}"/>
              </a:ext>
            </a:extLst>
          </p:cNvPr>
          <p:cNvSpPr txBox="1"/>
          <p:nvPr/>
        </p:nvSpPr>
        <p:spPr>
          <a:xfrm>
            <a:off x="2214163" y="1187360"/>
            <a:ext cx="7763674" cy="44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Key Accomplishments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✓ Built complete preprocessing pipeline for multilingual hope speech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✓ Established baseline performance metrics (English: 80.4%, Tamil: 63.4%, Malayalam: 30.3%)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✓ Identified critical challenges: negation, code-mixing, toxic positivity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✓ Validated need for transformer-based approaches</a:t>
            </a:r>
          </a:p>
          <a:p>
            <a:pPr algn="l">
              <a:spcBef>
                <a:spcPts val="225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Broader Impact</a:t>
            </a:r>
          </a:p>
          <a:p>
            <a:pPr algn="l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Enables positive content moderation, mental health support systems, and community resilience monitoring for </a:t>
            </a: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non-English speaking populations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0568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D21A37-C749-BC73-E05A-67AD74098C63}"/>
              </a:ext>
            </a:extLst>
          </p:cNvPr>
          <p:cNvSpPr txBox="1"/>
          <p:nvPr/>
        </p:nvSpPr>
        <p:spPr>
          <a:xfrm>
            <a:off x="493846" y="265553"/>
            <a:ext cx="13838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dirty="0">
                <a:solidFill>
                  <a:srgbClr val="764BA2"/>
                </a:solidFill>
                <a:latin typeface="Segoe UI" panose="020B0502040204020203" pitchFamily="34" charset="0"/>
              </a:rPr>
              <a:t>References</a:t>
            </a:r>
            <a:endParaRPr lang="en-US" b="1" i="0" dirty="0">
              <a:solidFill>
                <a:srgbClr val="764BA2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B8FD1C-4405-BE02-855B-41BE3EADEF81}"/>
              </a:ext>
            </a:extLst>
          </p:cNvPr>
          <p:cNvSpPr txBox="1"/>
          <p:nvPr/>
        </p:nvSpPr>
        <p:spPr>
          <a:xfrm>
            <a:off x="1387887" y="1028343"/>
            <a:ext cx="941622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[1] T. Davidson, D. Warmsley, M. Macy, and I. Weber, "Automated hate speech detection and the problem of offensive language," in </a:t>
            </a:r>
            <a:r>
              <a:rPr lang="en-US" i="1" dirty="0"/>
              <a:t>Proc. ICWSM</a:t>
            </a:r>
            <a:r>
              <a:rPr lang="en-US" dirty="0"/>
              <a:t>, 2017, pp. 512-515.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[2] B. R. Chakravarthi et al., "Overview of the shared task on hope speech detection for equality, diversity, and inclusion," in </a:t>
            </a:r>
            <a:r>
              <a:rPr lang="en-US" i="1" dirty="0"/>
              <a:t>Proc. EACL Workshop</a:t>
            </a:r>
            <a:r>
              <a:rPr lang="en-US" dirty="0"/>
              <a:t>, 2021, pp. 61-72.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[3] J. Devlin, M.-W. Chang, K. Lee, and K. Toutanova, "BERT: Pre-training of deep bidirectional transformers for language understanding," in </a:t>
            </a:r>
            <a:r>
              <a:rPr lang="en-US" i="1" dirty="0"/>
              <a:t>Proc. NAACL-HLT</a:t>
            </a:r>
            <a:r>
              <a:rPr lang="en-US" dirty="0"/>
              <a:t>, 2019, pp. 4171-4186.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[4] A. </a:t>
            </a:r>
            <a:r>
              <a:rPr lang="en-US" dirty="0" err="1"/>
              <a:t>Conneau</a:t>
            </a:r>
            <a:r>
              <a:rPr lang="en-US" dirty="0"/>
              <a:t> et al., "Unsupervised cross-lingual representation learning at scale," in </a:t>
            </a:r>
            <a:r>
              <a:rPr lang="en-US" i="1" dirty="0"/>
              <a:t>Proc. ACL</a:t>
            </a:r>
            <a:r>
              <a:rPr lang="en-US" dirty="0"/>
              <a:t>, 2020, pp. 8440-8451.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[5] S. Quintero and J. Long, "Toxic positivity: The dark side of positive vibes," </a:t>
            </a:r>
            <a:r>
              <a:rPr lang="en-US" i="1" dirty="0"/>
              <a:t>The Psychology Group</a:t>
            </a:r>
            <a:r>
              <a:rPr lang="en-US" dirty="0"/>
              <a:t>, vol. 12, no. 3, pp. 1-8, 2020.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[6] Jigsaw and Google, "Toxic Comment Classification Challenge," Kaggle, 2017. [Online]. Available: </a:t>
            </a:r>
            <a:r>
              <a:rPr lang="en-US" dirty="0">
                <a:hlinkClick r:id="rId2"/>
              </a:rPr>
              <a:t>https://www.kaggle.com/c/jigsaw-toxic-comment-classification-challenge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6296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177B93-E205-254A-5C87-22E749C2CEB5}"/>
              </a:ext>
            </a:extLst>
          </p:cNvPr>
          <p:cNvSpPr txBox="1"/>
          <p:nvPr/>
        </p:nvSpPr>
        <p:spPr>
          <a:xfrm>
            <a:off x="4732107" y="3044279"/>
            <a:ext cx="272778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sz="4400" b="1" dirty="0">
                <a:solidFill>
                  <a:srgbClr val="764BA2"/>
                </a:solidFill>
                <a:latin typeface="Segoe UI" panose="020B0502040204020203" pitchFamily="34" charset="0"/>
              </a:rPr>
              <a:t>Code Run</a:t>
            </a:r>
            <a:endParaRPr lang="en-US" sz="4400" b="1" i="0" dirty="0">
              <a:solidFill>
                <a:srgbClr val="764BA2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589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2618</TotalTime>
  <Words>1182</Words>
  <Application>Microsoft Office PowerPoint</Application>
  <PresentationFormat>Widescreen</PresentationFormat>
  <Paragraphs>172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Pavan Preetham Angulyabharanam</dc:creator>
  <cp:lastModifiedBy>Sai Pavan Preetham Angulyabharanam</cp:lastModifiedBy>
  <cp:revision>6</cp:revision>
  <dcterms:created xsi:type="dcterms:W3CDTF">2025-11-28T19:28:53Z</dcterms:created>
  <dcterms:modified xsi:type="dcterms:W3CDTF">2025-12-01T01:56:53Z</dcterms:modified>
</cp:coreProperties>
</file>