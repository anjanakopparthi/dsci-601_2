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6576-36D8-C789-53D2-B0AA27FEC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E2C2D-C7A4-FDB7-A49D-3932AE4E7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C274-A921-2FD5-DAFB-2C5E3A7C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0914D-3A5B-3083-DBA3-25448277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3A137-BD60-8326-8183-8BAFD69D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3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EEC8-A74D-2D27-8076-BD80A314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133E-2A54-A0A7-BA6F-40258D20D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75481-1ED5-7B1B-2184-E1780F6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05A93-E745-9A3C-716C-AD75E5AC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3026-10DA-4BCF-D58B-D60E2725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9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8525-1772-F4EE-6ED2-D1F62FA8C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AD93B-AEF0-2CCA-8793-C82C9113F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70D07-8932-3785-AB49-93A32221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7CA0A-449C-C369-24D2-54BBE5C3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AB89B-437D-F1B1-E400-DD7D15C3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7383-BDAE-8B07-0C41-5DE8887C6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45D7-E57B-399E-1C17-581607B1E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8CCDF-CAC4-195A-0D04-4AB0BEA99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179BE-7CDA-16B5-0C3D-974187A9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34304-0905-085B-0A46-3FD8E19A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AF8C1-27A2-E471-696E-0AA29D434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9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CF252-1751-411B-E8DB-51035DC7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DD9CE-6847-1943-8F28-EB5A8676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9DA8C-BBA0-D259-F509-1C1432623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3DA94-351D-F9DA-26E0-B19BC3295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8E488-EE7E-97C4-7460-BBE735DAE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DF245-39C9-C0EE-C01B-65CE0519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5DA3A-26C9-95F7-C71B-620F0C72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EC99A8-29DC-2065-3462-8075B490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6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E781-3FC6-9CDE-A378-E5BB295A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31A2E5-2C87-7E1F-6ECB-AB5639BF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FC1B2-5EC8-3E44-D8AD-692D7EFD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A8F8A-8853-7748-D537-F1C7489A0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5BEFF7-0138-59EC-ACC1-C219B000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4912C1-3616-FAC3-9FF2-96D4B3FE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E77EC-603A-7D98-09AD-D7E9AAB7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6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C477-96CB-7A07-E3EA-F2B01893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B7ED0-2E2E-669F-C465-0AB74E3A3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F1B01-598E-1F76-ADC9-F3221638B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60F67-71D1-6559-A708-784E308C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78C00-630A-2D22-8253-FED0C299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81EFA-0BFF-E663-E61A-66110BA63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E47F-A258-A83B-E0D2-54E00017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D8747-90FD-74EA-97D5-C279E16C9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855F-DC7B-567B-7388-BAF63D8F0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8F8BD-DB94-A91B-30A4-C043093E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48C42-628B-6F19-A2B6-E2D6A0AD8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5AB8A-7E97-A7D5-C124-3E84C17D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9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5ACC-D1F4-8792-3E6F-A119A9BA3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8C1F7-D271-4904-DA9B-DED2528BE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99F8C-614F-A033-5BF2-AC4622E9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D52B0-3ECF-8C88-BDE4-F7C48DC1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E274C-6E8C-DA7A-9258-68F6E042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9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EA802-3595-D94C-3191-450C2AA8F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0C8A0-9160-6839-42AB-FF89C6271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C433-D9F2-ADD0-5081-F615726D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E3D4C-3222-9F85-BDA6-B7F8BE3C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2E301-8283-5C20-6B9F-28137F48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2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FFBF2-7F83-6606-6FBA-AB66317F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44EF2-953D-5C11-7019-2AB176A68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3625C-1177-0E52-E344-878F1B7B3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CC1FB-A9DB-4A4C-BE78-9D4EEDE8207E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5931-F18C-31C9-7151-11DCECCDB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9B31-252F-0B1E-D21C-C98CBD565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091BD-13F4-42FF-8D93-2208E6F2B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5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9CA437-994C-14A5-523C-E73A2C9B366F}"/>
              </a:ext>
            </a:extLst>
          </p:cNvPr>
          <p:cNvSpPr txBox="1"/>
          <p:nvPr/>
        </p:nvSpPr>
        <p:spPr>
          <a:xfrm>
            <a:off x="4021440" y="1676104"/>
            <a:ext cx="4149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Multilingual Hope Speech Detection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80FD5-C79B-5280-FD23-9D4D396063D9}"/>
              </a:ext>
            </a:extLst>
          </p:cNvPr>
          <p:cNvSpPr txBox="1"/>
          <p:nvPr/>
        </p:nvSpPr>
        <p:spPr>
          <a:xfrm>
            <a:off x="3948148" y="1964973"/>
            <a:ext cx="4295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buNone/>
            </a:pPr>
            <a:r>
              <a:rPr lang="en-US" b="0" i="0" dirty="0">
                <a:solidFill>
                  <a:srgbClr val="666666"/>
                </a:solidFill>
                <a:effectLst/>
                <a:latin typeface="Segoe UI" panose="020B0502040204020203" pitchFamily="34" charset="0"/>
              </a:rPr>
              <a:t>Low-Resource and Code-Mixed Settings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BBC14-4E55-8AAA-2315-DDF5646504BF}"/>
              </a:ext>
            </a:extLst>
          </p:cNvPr>
          <p:cNvSpPr txBox="1"/>
          <p:nvPr/>
        </p:nvSpPr>
        <p:spPr>
          <a:xfrm>
            <a:off x="1900637" y="3059668"/>
            <a:ext cx="8390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Detecting supportive and encouraging content in Tamil, Malayalam, and English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F2AC7-15A0-38D2-C831-5C4B4C9E7E3A}"/>
              </a:ext>
            </a:extLst>
          </p:cNvPr>
          <p:cNvSpPr txBox="1"/>
          <p:nvPr/>
        </p:nvSpPr>
        <p:spPr>
          <a:xfrm>
            <a:off x="3603213" y="4406992"/>
            <a:ext cx="49855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Anjana Kopparthi</a:t>
            </a:r>
            <a:br>
              <a:rPr lang="en-US" dirty="0"/>
            </a:b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Data Science, Rochester Institute of Technology</a:t>
            </a:r>
            <a:br>
              <a:rPr lang="en-US" dirty="0"/>
            </a:b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Advisor: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Aashique</a:t>
            </a:r>
            <a:r>
              <a:rPr lang="en-US" b="0" i="0" dirty="0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Segoe UI" panose="020B0502040204020203" pitchFamily="34" charset="0"/>
              </a:rPr>
              <a:t>Khudabuksh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21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8A24A-AA96-77D2-BFF2-39A4A8C6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395BB9-B29B-B704-6B9A-02F12C4D0976}"/>
              </a:ext>
            </a:extLst>
          </p:cNvPr>
          <p:cNvSpPr txBox="1"/>
          <p:nvPr/>
        </p:nvSpPr>
        <p:spPr>
          <a:xfrm>
            <a:off x="438033" y="202817"/>
            <a:ext cx="2947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What is Hope Speech? 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D62279-03A3-DA98-A2DE-63DDB3736FD3}"/>
              </a:ext>
            </a:extLst>
          </p:cNvPr>
          <p:cNvSpPr txBox="1"/>
          <p:nvPr/>
        </p:nvSpPr>
        <p:spPr>
          <a:xfrm>
            <a:off x="2189732" y="873931"/>
            <a:ext cx="7812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Hope speech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= Messages that comfort, encourage, and promote optimism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2D636-CA5F-00B3-0BE6-797F83569FE5}"/>
              </a:ext>
            </a:extLst>
          </p:cNvPr>
          <p:cNvSpPr txBox="1"/>
          <p:nvPr/>
        </p:nvSpPr>
        <p:spPr>
          <a:xfrm>
            <a:off x="1610671" y="1891930"/>
            <a:ext cx="3047418" cy="3749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28A745"/>
                </a:solidFill>
                <a:effectLst/>
                <a:latin typeface="Segoe UI" panose="020B0502040204020203" pitchFamily="34" charset="0"/>
              </a:rPr>
              <a:t>✓ Hope Speech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"I know this is hard, but you are not alone“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"Things will get better“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"I'm here if you need someone“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"Stay strong, you can do this"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endParaRPr lang="en-US" b="1" i="0" dirty="0">
              <a:solidFill>
                <a:srgbClr val="28A745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89612-3677-0BB3-4FB8-51C32DC290AB}"/>
              </a:ext>
            </a:extLst>
          </p:cNvPr>
          <p:cNvSpPr txBox="1"/>
          <p:nvPr/>
        </p:nvSpPr>
        <p:spPr>
          <a:xfrm>
            <a:off x="6573559" y="1891930"/>
            <a:ext cx="2703064" cy="40267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DC3545"/>
                </a:solidFill>
                <a:effectLst/>
                <a:latin typeface="Segoe UI" panose="020B0502040204020203" pitchFamily="34" charset="0"/>
              </a:rPr>
              <a:t>✗ Non-Hope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"There is no hope left“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"Just smile and stop complaining" (toxic positivity)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"Nobody cares about your problems“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“Others have it worse; cheer up!"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endParaRPr lang="en-US" b="1" i="0" dirty="0">
              <a:solidFill>
                <a:srgbClr val="DC3545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25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0B8-EBB2-128B-5412-74810EA4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681D21-F86B-54E8-DB9C-6541D5FFAA7D}"/>
              </a:ext>
            </a:extLst>
          </p:cNvPr>
          <p:cNvSpPr txBox="1"/>
          <p:nvPr/>
        </p:nvSpPr>
        <p:spPr>
          <a:xfrm>
            <a:off x="305382" y="251594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Why is Hope Speech Detection Challenging? 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7E87FE-F43C-6890-647E-AEB18BFFBD64}"/>
              </a:ext>
            </a:extLst>
          </p:cNvPr>
          <p:cNvSpPr txBox="1"/>
          <p:nvPr/>
        </p:nvSpPr>
        <p:spPr>
          <a:xfrm>
            <a:off x="3048582" y="1294263"/>
            <a:ext cx="6097162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Subtle expressions: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"I'm here if you need someone" has no explicit "hope" word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Negation patterns: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 have hope" vs "I have no hope left"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Code-mixing: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entha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feel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aayi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but still I know things will improve"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Script variation: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in native script vs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romanized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Low-resource languages: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Limited labeled datasets for Tamil &amp; Malayalam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Sounds positive but invalidates feelings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4897A-714A-F316-7755-2C8DEC49A8BE}"/>
              </a:ext>
            </a:extLst>
          </p:cNvPr>
          <p:cNvSpPr txBox="1"/>
          <p:nvPr/>
        </p:nvSpPr>
        <p:spPr>
          <a:xfrm>
            <a:off x="3048582" y="5767018"/>
            <a:ext cx="609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Key Insight: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Hope speech is NOT just the opposite of hate speech!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20FF9-0D5A-653A-6A97-8853CB37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F7143F-9E73-5486-592A-EA1555BC705B}"/>
              </a:ext>
            </a:extLst>
          </p:cNvPr>
          <p:cNvSpPr txBox="1"/>
          <p:nvPr/>
        </p:nvSpPr>
        <p:spPr>
          <a:xfrm>
            <a:off x="542708" y="244613"/>
            <a:ext cx="2207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Datasets Used 📊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57A99-CEB4-E3EA-CE75-FA364EC6E054}"/>
              </a:ext>
            </a:extLst>
          </p:cNvPr>
          <p:cNvSpPr txBox="1"/>
          <p:nvPr/>
        </p:nvSpPr>
        <p:spPr>
          <a:xfrm>
            <a:off x="542708" y="878020"/>
            <a:ext cx="5711510" cy="3164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1. </a:t>
            </a:r>
            <a:r>
              <a:rPr lang="en-US" b="1" i="0" dirty="0" err="1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HopeEDI</a:t>
            </a: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 Dataset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English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Tamil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Malayalam samples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Labels: hope, non-hope, not-in-language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Issue: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Highly imbalanced (more hope than non-hope)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F62FE-F14F-D9E1-4314-12494BDB2A26}"/>
              </a:ext>
            </a:extLst>
          </p:cNvPr>
          <p:cNvSpPr txBox="1"/>
          <p:nvPr/>
        </p:nvSpPr>
        <p:spPr>
          <a:xfrm>
            <a:off x="6510737" y="878020"/>
            <a:ext cx="4043254" cy="26058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2. Jigsaw Toxic Positivity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English only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Emotionally supportive comments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Discouraging comments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 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0417D-1222-00DD-8F1B-6945899A6F77}"/>
              </a:ext>
            </a:extLst>
          </p:cNvPr>
          <p:cNvSpPr txBox="1"/>
          <p:nvPr/>
        </p:nvSpPr>
        <p:spPr>
          <a:xfrm>
            <a:off x="3047419" y="4580537"/>
            <a:ext cx="6097162" cy="1720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3. YouTube Comments (Exploratory)</a:t>
            </a:r>
          </a:p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Manually collected from Telugu, Tamil, Malayalam videos: motivational talks, devotional content, mental health awareness channels</a:t>
            </a:r>
          </a:p>
          <a:p>
            <a:pPr>
              <a:spcBef>
                <a:spcPts val="750"/>
              </a:spcBef>
            </a:pPr>
            <a:r>
              <a:rPr lang="en-US" b="1" i="0" dirty="0">
                <a:solidFill>
                  <a:srgbClr val="DC3545"/>
                </a:solidFill>
                <a:effectLst/>
                <a:latin typeface="Segoe UI" panose="020B0502040204020203" pitchFamily="34" charset="0"/>
              </a:rPr>
              <a:t>Next Semester: 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Large-scale automated scraping planned</a:t>
            </a:r>
          </a:p>
        </p:txBody>
      </p:sp>
    </p:spTree>
    <p:extLst>
      <p:ext uri="{BB962C8B-B14F-4D97-AF65-F5344CB8AC3E}">
        <p14:creationId xmlns:p14="http://schemas.microsoft.com/office/powerpoint/2010/main" val="315326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5CE8-AAE4-E678-985A-D40F985B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E323FC-FDFF-12E3-E17E-CA8820FDD535}"/>
              </a:ext>
            </a:extLst>
          </p:cNvPr>
          <p:cNvSpPr/>
          <p:nvPr/>
        </p:nvSpPr>
        <p:spPr>
          <a:xfrm>
            <a:off x="3967052" y="1119453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Layer: </a:t>
            </a:r>
            <a:r>
              <a:rPr lang="en-US" dirty="0" err="1"/>
              <a:t>HopeEDI</a:t>
            </a:r>
            <a:r>
              <a:rPr lang="en-US" dirty="0"/>
              <a:t> + Jigsaw + YouTube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151BB4E-659F-444D-E409-CD5089C82559}"/>
              </a:ext>
            </a:extLst>
          </p:cNvPr>
          <p:cNvSpPr/>
          <p:nvPr/>
        </p:nvSpPr>
        <p:spPr>
          <a:xfrm>
            <a:off x="3967053" y="1902676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Preprocessing: Normalization, Negation Detection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B10849-AA25-55E1-6CC3-1C5321390D93}"/>
              </a:ext>
            </a:extLst>
          </p:cNvPr>
          <p:cNvSpPr/>
          <p:nvPr/>
        </p:nvSpPr>
        <p:spPr>
          <a:xfrm>
            <a:off x="6213497" y="2763566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Transformer Tokens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4C5DEF-76CE-2FAB-59C8-7403B72546AB}"/>
              </a:ext>
            </a:extLst>
          </p:cNvPr>
          <p:cNvSpPr/>
          <p:nvPr/>
        </p:nvSpPr>
        <p:spPr>
          <a:xfrm>
            <a:off x="1720611" y="278362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TF-IDF Features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19371F-1ED9-313F-8142-2F7E0FE6236C}"/>
              </a:ext>
            </a:extLst>
          </p:cNvPr>
          <p:cNvSpPr/>
          <p:nvPr/>
        </p:nvSpPr>
        <p:spPr>
          <a:xfrm>
            <a:off x="6213496" y="382599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XLM-Roberta (planned)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0DD803-A2E8-F91E-ACE9-B1DD2D7B7712}"/>
              </a:ext>
            </a:extLst>
          </p:cNvPr>
          <p:cNvSpPr/>
          <p:nvPr/>
        </p:nvSpPr>
        <p:spPr>
          <a:xfrm>
            <a:off x="1720612" y="3825997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Logistic Regression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FA858E-C2E4-9602-F3F9-788F0D0A66B3}"/>
              </a:ext>
            </a:extLst>
          </p:cNvPr>
          <p:cNvSpPr/>
          <p:nvPr/>
        </p:nvSpPr>
        <p:spPr>
          <a:xfrm>
            <a:off x="3975193" y="4781404"/>
            <a:ext cx="4257893" cy="5584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 &amp; Error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460C6-5024-BFE8-53CF-BA61B25AB1B1}"/>
              </a:ext>
            </a:extLst>
          </p:cNvPr>
          <p:cNvSpPr txBox="1"/>
          <p:nvPr/>
        </p:nvSpPr>
        <p:spPr>
          <a:xfrm>
            <a:off x="1177316" y="5991298"/>
            <a:ext cx="10072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Progressive Complexity Design: Start with interpretable baselines → Scale to advanced transformers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4F839-A306-733C-8CEF-47D3B1F155DF}"/>
              </a:ext>
            </a:extLst>
          </p:cNvPr>
          <p:cNvSpPr txBox="1"/>
          <p:nvPr/>
        </p:nvSpPr>
        <p:spPr>
          <a:xfrm>
            <a:off x="458945" y="197241"/>
            <a:ext cx="382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System Architecture Overview 🏗️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7361B5-E46C-D69A-7AE9-7E0CA4152268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6095999" y="1677866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754A6F-7EC5-638B-8E97-EEFA87A9728E}"/>
              </a:ext>
            </a:extLst>
          </p:cNvPr>
          <p:cNvCxnSpPr/>
          <p:nvPr/>
        </p:nvCxnSpPr>
        <p:spPr>
          <a:xfrm>
            <a:off x="6105299" y="2514030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3F21A6-E4B0-C89E-7901-19923D26138A}"/>
              </a:ext>
            </a:extLst>
          </p:cNvPr>
          <p:cNvCxnSpPr/>
          <p:nvPr/>
        </p:nvCxnSpPr>
        <p:spPr>
          <a:xfrm>
            <a:off x="6114599" y="3392074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B4B59D-AFB8-9278-B028-80BD4488745E}"/>
              </a:ext>
            </a:extLst>
          </p:cNvPr>
          <p:cNvCxnSpPr/>
          <p:nvPr/>
        </p:nvCxnSpPr>
        <p:spPr>
          <a:xfrm>
            <a:off x="6114598" y="4464109"/>
            <a:ext cx="1" cy="224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608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BF3979-8CAB-30BD-F4E9-2CCCD4327A49}"/>
              </a:ext>
            </a:extLst>
          </p:cNvPr>
          <p:cNvSpPr txBox="1"/>
          <p:nvPr/>
        </p:nvSpPr>
        <p:spPr>
          <a:xfrm>
            <a:off x="507806" y="328375"/>
            <a:ext cx="3047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Preprocessing Pipeline 🔧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804E3-8DA4-1D7A-E5D6-24B6B4F26CDF}"/>
              </a:ext>
            </a:extLst>
          </p:cNvPr>
          <p:cNvSpPr txBox="1"/>
          <p:nvPr/>
        </p:nvSpPr>
        <p:spPr>
          <a:xfrm>
            <a:off x="1931466" y="1178196"/>
            <a:ext cx="8329067" cy="4837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Critical Steps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Unicode Normalization (NFC):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Handle visually identical characters in Tamil/Malayalam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Noise Removal: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Remove URLs, HTML, repeated punctuation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Emoji Preservation: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Keep emojis (they encode emotional intensity!)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Script Variant Tagging: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Classify as native/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romanized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/code-mixed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Negation Detection: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Flag sentences with negation + hope words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Label Normalization: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Map to integers (hope=1, non-hope=0, not-in-lang=2)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Special Handling: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If text contains "hope" word + negation → Override to NON-HOPE</a:t>
            </a:r>
          </a:p>
        </p:txBody>
      </p:sp>
    </p:spTree>
    <p:extLst>
      <p:ext uri="{BB962C8B-B14F-4D97-AF65-F5344CB8AC3E}">
        <p14:creationId xmlns:p14="http://schemas.microsoft.com/office/powerpoint/2010/main" val="1679748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7FD0-2944-08D2-C147-04C3BC0E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CC7C41-41A7-5105-F599-35E323453BDF}"/>
              </a:ext>
            </a:extLst>
          </p:cNvPr>
          <p:cNvSpPr txBox="1"/>
          <p:nvPr/>
        </p:nvSpPr>
        <p:spPr>
          <a:xfrm>
            <a:off x="375183" y="300455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Baseline Model: TF-IDF + Logistic Regression 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0BFC3-CB21-9BC0-0305-7632110933AB}"/>
              </a:ext>
            </a:extLst>
          </p:cNvPr>
          <p:cNvSpPr txBox="1"/>
          <p:nvPr/>
        </p:nvSpPr>
        <p:spPr>
          <a:xfrm>
            <a:off x="3047419" y="1206443"/>
            <a:ext cx="6097162" cy="2605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Implementation Details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Features: TF-IDF with unigrams, bigrams, trigrams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Max vocabulary: 5000 features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Classifier: Logistic Regression with class-weight balancing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Library: scikit-learn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5675A-6344-404A-436F-9E4C08088D89}"/>
              </a:ext>
            </a:extLst>
          </p:cNvPr>
          <p:cNvSpPr txBox="1"/>
          <p:nvPr/>
        </p:nvSpPr>
        <p:spPr>
          <a:xfrm>
            <a:off x="492684" y="4558348"/>
            <a:ext cx="1175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Purpose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25E264-6439-F485-3D4F-19F2367EE28A}"/>
              </a:ext>
            </a:extLst>
          </p:cNvPr>
          <p:cNvSpPr txBox="1"/>
          <p:nvPr/>
        </p:nvSpPr>
        <p:spPr>
          <a:xfrm>
            <a:off x="570628" y="5282225"/>
            <a:ext cx="44411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Establish interpretable reference model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6AD758-BF2A-1C11-DD3F-A3D51BAD5630}"/>
              </a:ext>
            </a:extLst>
          </p:cNvPr>
          <p:cNvSpPr txBox="1"/>
          <p:nvPr/>
        </p:nvSpPr>
        <p:spPr>
          <a:xfrm>
            <a:off x="5407874" y="5254303"/>
            <a:ext cx="65840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Create performance lower bound for transformer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506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E275-A603-A197-D09C-6ED77998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A35F79-ADDB-0CAB-FF78-785751225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473483"/>
              </p:ext>
            </p:extLst>
          </p:nvPr>
        </p:nvGraphicFramePr>
        <p:xfrm>
          <a:off x="2667000" y="2053912"/>
          <a:ext cx="6858000" cy="17449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42415504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36793435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82389583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5567169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199051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Language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Accuracy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Precision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Recall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solidFill>
                            <a:srgbClr val="FFFFFF"/>
                          </a:solidFill>
                          <a:effectLst/>
                        </a:rPr>
                        <a:t>F1-Score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656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English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80.4%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91.8%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80.4%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84.2%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63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Tamil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63.4%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63.3%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63.4%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63.3%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04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Malayalam</a:t>
                      </a:r>
                      <a:endParaRPr lang="en-US">
                        <a:effectLst/>
                      </a:endParaRP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82.3%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30.3%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38.0%</a:t>
                      </a:r>
                    </a:p>
                  </a:txBody>
                  <a:tcPr marL="95250" marR="95250" marT="76200" marB="762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839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1EA53A-5DF8-3161-BB98-6841C45BEAD5}"/>
              </a:ext>
            </a:extLst>
          </p:cNvPr>
          <p:cNvSpPr txBox="1"/>
          <p:nvPr/>
        </p:nvSpPr>
        <p:spPr>
          <a:xfrm>
            <a:off x="780060" y="335439"/>
            <a:ext cx="2437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Baseline Results 📊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22218-A5FE-DFE3-E92C-3C85510F1604}"/>
              </a:ext>
            </a:extLst>
          </p:cNvPr>
          <p:cNvSpPr txBox="1"/>
          <p:nvPr/>
        </p:nvSpPr>
        <p:spPr>
          <a:xfrm>
            <a:off x="780060" y="4433809"/>
            <a:ext cx="609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Observation: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English performs well, but Tamil and Malayalam struggle significantly with TF-IDF baseline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790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64F5-AA07-64BA-7E25-6F4C0D31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79E5B-B044-20BB-5A02-5E6734C50CE9}"/>
              </a:ext>
            </a:extLst>
          </p:cNvPr>
          <p:cNvSpPr txBox="1"/>
          <p:nvPr/>
        </p:nvSpPr>
        <p:spPr>
          <a:xfrm>
            <a:off x="354243" y="258574"/>
            <a:ext cx="3910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Error Analysis &amp; Key Findings 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790C5-3711-724A-17D7-EFC6A67E02C7}"/>
              </a:ext>
            </a:extLst>
          </p:cNvPr>
          <p:cNvSpPr txBox="1"/>
          <p:nvPr/>
        </p:nvSpPr>
        <p:spPr>
          <a:xfrm>
            <a:off x="1970729" y="1012954"/>
            <a:ext cx="8250541" cy="399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Common Failure Patterns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Toxic positivity misclassification: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"Just smile and stop being weak" → predicted as HOPE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Code-mixing challenges: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TF-IDF treats English + Tamil as separate bags of words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Sarcasm: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"Oh great, another failure, what a surprise" → misclassified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Cultural expressions: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idioms not captured by lexical features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Why Malayalam Failed: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Complex morphology + script diversity + class imbalance + sparse data = poor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9074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1AAAE-C364-056F-59EA-F0CA5AFD0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7FAF31-4FD4-B087-9F73-8D7DE84004B2}"/>
              </a:ext>
            </a:extLst>
          </p:cNvPr>
          <p:cNvSpPr txBox="1"/>
          <p:nvPr/>
        </p:nvSpPr>
        <p:spPr>
          <a:xfrm>
            <a:off x="500826" y="356296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Why TF-IDF Fails in Multilingual Settings 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38BE8-79E7-1FFB-5539-32703A5F9821}"/>
              </a:ext>
            </a:extLst>
          </p:cNvPr>
          <p:cNvSpPr txBox="1"/>
          <p:nvPr/>
        </p:nvSpPr>
        <p:spPr>
          <a:xfrm>
            <a:off x="1683671" y="1089272"/>
            <a:ext cx="8824657" cy="454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Sparse Vocabulary Explosion: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create thousands of unique tokens, each seen only a few times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Romanization Variability: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Same word appears as: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nandhi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",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",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nandii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", 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nandee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" → all treated as different!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Code-switching ignorance: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Cannot understand context across language boundaries within single sentence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 long-range dependencies: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 thought things would improve, but not anymore" → negation too far from "improve"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 semantic understanding: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"I'm here if you need someone" has no explicit positive words but is hopeful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Solution: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Need contextual embeddings from multilingual transformers!</a:t>
            </a:r>
          </a:p>
        </p:txBody>
      </p:sp>
    </p:spTree>
    <p:extLst>
      <p:ext uri="{BB962C8B-B14F-4D97-AF65-F5344CB8AC3E}">
        <p14:creationId xmlns:p14="http://schemas.microsoft.com/office/powerpoint/2010/main" val="541668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4504-7950-3D92-0880-4495347B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1527A4-C935-B67B-9923-3F30CBF11189}"/>
              </a:ext>
            </a:extLst>
          </p:cNvPr>
          <p:cNvSpPr txBox="1"/>
          <p:nvPr/>
        </p:nvSpPr>
        <p:spPr>
          <a:xfrm>
            <a:off x="521767" y="391197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Unique Linguistic Challenges of Hope Speech 🗣️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650B5-7B85-C703-A94D-7BDDF6F7A4C8}"/>
              </a:ext>
            </a:extLst>
          </p:cNvPr>
          <p:cNvSpPr txBox="1"/>
          <p:nvPr/>
        </p:nvSpPr>
        <p:spPr>
          <a:xfrm>
            <a:off x="1844215" y="1213008"/>
            <a:ext cx="850357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Implicitness: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Hope often expressed without explicit positive keywords</a:t>
            </a:r>
          </a:p>
          <a:p>
            <a:pPr marL="742950" lvl="1" indent="-285750"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Example: "I'm here if you need someone" → no "hope" word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Future-oriented semantics: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"Things will get better" requires temporal understanding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Cultural variation: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Tamil/Malayalam optimism encoded through cultural idioms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Honorifics matter: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South Indian languages use respectful forms to convey support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Context-dependent: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Same phrase can be hopeful or sarcastic based on context</a:t>
            </a:r>
          </a:p>
          <a:p>
            <a:pPr algn="ctr"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Hope speech ≠ Sentiment analysis ≠ Opposite of hate speech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73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004D-5AE3-A2C7-9EC7-49A80916B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50135-F046-6EF3-2729-7F8101DD5911}"/>
              </a:ext>
            </a:extLst>
          </p:cNvPr>
          <p:cNvSpPr txBox="1"/>
          <p:nvPr/>
        </p:nvSpPr>
        <p:spPr>
          <a:xfrm>
            <a:off x="521766" y="328375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Next Phase: Multilingual Transformers 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5AFA3-C61F-29AC-3C9B-EE684A47F44E}"/>
              </a:ext>
            </a:extLst>
          </p:cNvPr>
          <p:cNvSpPr txBox="1"/>
          <p:nvPr/>
        </p:nvSpPr>
        <p:spPr>
          <a:xfrm>
            <a:off x="654389" y="1655949"/>
            <a:ext cx="4894832" cy="31649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Why XLM-R?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Pre-trained on 100 languages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Shares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subword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representations across scripts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Handles code-mixing naturally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Captures long-range dependencies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Understands context &amp; semantics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93769-BBBC-6C42-6D51-D90D808A75DF}"/>
              </a:ext>
            </a:extLst>
          </p:cNvPr>
          <p:cNvSpPr txBox="1"/>
          <p:nvPr/>
        </p:nvSpPr>
        <p:spPr>
          <a:xfrm>
            <a:off x="6096000" y="1655949"/>
            <a:ext cx="5264780" cy="372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Implementation Plan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Model: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xlm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roberta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-base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Learning rate: 2e-5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Batch size: 16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Epochs: 3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Library: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HuggingFace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Transformers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Expected: Significant improvement over baseline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48910-B7BB-D27E-1881-452D703AAB42}"/>
              </a:ext>
            </a:extLst>
          </p:cNvPr>
          <p:cNvSpPr txBox="1"/>
          <p:nvPr/>
        </p:nvSpPr>
        <p:spPr>
          <a:xfrm>
            <a:off x="521766" y="659732"/>
            <a:ext cx="6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XLM-Roberta Fine-tuning (Planned for Next Semester)</a:t>
            </a:r>
          </a:p>
        </p:txBody>
      </p:sp>
    </p:spTree>
    <p:extLst>
      <p:ext uri="{BB962C8B-B14F-4D97-AF65-F5344CB8AC3E}">
        <p14:creationId xmlns:p14="http://schemas.microsoft.com/office/powerpoint/2010/main" val="210875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5901-F0D9-B880-CCD6-0AA47035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75BCC-746B-30DB-8E8D-C4949871CCC3}"/>
              </a:ext>
            </a:extLst>
          </p:cNvPr>
          <p:cNvSpPr txBox="1"/>
          <p:nvPr/>
        </p:nvSpPr>
        <p:spPr>
          <a:xfrm>
            <a:off x="507807" y="460998"/>
            <a:ext cx="390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Future Work (Next Semester) 🔮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95C94-3B98-8867-6CBA-75511066795A}"/>
              </a:ext>
            </a:extLst>
          </p:cNvPr>
          <p:cNvSpPr txBox="1"/>
          <p:nvPr/>
        </p:nvSpPr>
        <p:spPr>
          <a:xfrm>
            <a:off x="3047419" y="1305341"/>
            <a:ext cx="60971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Large-Scale YouTube Scraping</a:t>
            </a:r>
          </a:p>
          <a:p>
            <a:r>
              <a:rPr lang="en-US" dirty="0"/>
              <a:t>Automated extraction of 10k+ comments in Telugu, Tamil, Malayalam from motivational videos, mental health channels, devotional content</a:t>
            </a:r>
          </a:p>
          <a:p>
            <a:endParaRPr lang="en-US" dirty="0"/>
          </a:p>
          <a:p>
            <a:r>
              <a:rPr lang="en-US" b="1" dirty="0"/>
              <a:t>2. Multilingual Annotation Guidelines</a:t>
            </a:r>
          </a:p>
          <a:p>
            <a:r>
              <a:rPr lang="en-US" dirty="0"/>
              <a:t>Consistent labeling framework for hope, non-hope, toxic positivity across languages</a:t>
            </a:r>
          </a:p>
          <a:p>
            <a:endParaRPr lang="en-US" dirty="0"/>
          </a:p>
          <a:p>
            <a:r>
              <a:rPr lang="en-US" b="1" dirty="0"/>
              <a:t>3. Transformer Fine-tuning</a:t>
            </a:r>
          </a:p>
          <a:p>
            <a:r>
              <a:rPr lang="en-US" dirty="0"/>
              <a:t>XLM-Roberta / </a:t>
            </a:r>
            <a:r>
              <a:rPr lang="en-US" dirty="0" err="1"/>
              <a:t>mBERT</a:t>
            </a:r>
            <a:r>
              <a:rPr lang="en-US" dirty="0"/>
              <a:t> training on combined datasets</a:t>
            </a:r>
          </a:p>
          <a:p>
            <a:endParaRPr lang="en-US" dirty="0"/>
          </a:p>
          <a:p>
            <a:r>
              <a:rPr lang="en-US" b="1" dirty="0"/>
              <a:t>4. Toxic Positivity Dataset Expansion</a:t>
            </a:r>
          </a:p>
          <a:p>
            <a:r>
              <a:rPr lang="en-US" dirty="0"/>
              <a:t>Especially for Tamil and Malayalam (currently underrepresented)</a:t>
            </a:r>
          </a:p>
        </p:txBody>
      </p:sp>
    </p:spTree>
    <p:extLst>
      <p:ext uri="{BB962C8B-B14F-4D97-AF65-F5344CB8AC3E}">
        <p14:creationId xmlns:p14="http://schemas.microsoft.com/office/powerpoint/2010/main" val="890269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C1968-9123-423B-2EDF-7872102C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6C4F88-BB73-3DEF-D55C-727B9CE11004}"/>
              </a:ext>
            </a:extLst>
          </p:cNvPr>
          <p:cNvSpPr txBox="1"/>
          <p:nvPr/>
        </p:nvSpPr>
        <p:spPr>
          <a:xfrm>
            <a:off x="493846" y="265553"/>
            <a:ext cx="2884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en-US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Conclusion &amp; Impact 🎯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4A755-B126-5056-D9E0-AD4E28B1D75E}"/>
              </a:ext>
            </a:extLst>
          </p:cNvPr>
          <p:cNvSpPr txBox="1"/>
          <p:nvPr/>
        </p:nvSpPr>
        <p:spPr>
          <a:xfrm>
            <a:off x="2214163" y="1187360"/>
            <a:ext cx="7763674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Key Accomplishments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Built complete preprocessing pipeline for multilingual hope speech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Established baseline performance metrics (English: 80.4%, Tamil: 63.4%, Malayalam: 30.3%)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Identified critical challenges: negation, code-mixing, toxic positivity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✓ Validated need for transformer-based approaches</a:t>
            </a:r>
          </a:p>
          <a:p>
            <a:pPr algn="l"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b="1" i="0" dirty="0">
                <a:solidFill>
                  <a:srgbClr val="667EEA"/>
                </a:solidFill>
                <a:effectLst/>
                <a:latin typeface="Segoe UI" panose="020B0502040204020203" pitchFamily="34" charset="0"/>
              </a:rPr>
              <a:t>Broader Impact</a:t>
            </a:r>
          </a:p>
          <a:p>
            <a:pPr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Enables positive content moderation, mental health support systems, and community resilience monitoring for </a:t>
            </a:r>
            <a:r>
              <a:rPr lang="en-US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non-English speaking populations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568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872A4-B622-A952-0CA9-79B34AB35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41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501CE383-BE7D-E7F3-1D26-CA71A2A11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909" y="275848"/>
            <a:ext cx="8705088" cy="658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1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1043</Words>
  <Application>Microsoft Office PowerPoint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Pavan Preetham Angulyabharanam</dc:creator>
  <cp:lastModifiedBy>Sai Pavan Preetham Angulyabharanam</cp:lastModifiedBy>
  <cp:revision>1</cp:revision>
  <dcterms:created xsi:type="dcterms:W3CDTF">2025-11-28T19:28:53Z</dcterms:created>
  <dcterms:modified xsi:type="dcterms:W3CDTF">2025-11-29T00:36:02Z</dcterms:modified>
</cp:coreProperties>
</file>